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NW센터 에너지 관리 체계 강화 방안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CF0F1"/>
                </a:solidFill>
              </a:defRPr>
            </a:pPr>
            <a:r>
              <a:t>2026 ~ 2028 Strategic Plan &amp; Action Items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3대 핵심 방향성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DC3C7"/>
                </a:solidFill>
              </a:defRPr>
            </a:pPr>
            <a:r>
              <a:t>Strategic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D3C98"/>
                </a:solidFill>
              </a:defRPr>
            </a:pPr>
            <a:r>
              <a:t>#1. 가시성 &amp; 성과관리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F8C8D"/>
                </a:solidFill>
              </a:defRPr>
            </a:pPr>
            <a:r>
              <a:t>AT/DT 기반 운영 최적화 체계 구축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solidFill>
            <a:srgbClr val="7D3C98"/>
          </a:solidFill>
          <a:ln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D3C98"/>
                </a:solidFill>
              </a:defRPr>
            </a:pPr>
            <a:r>
              <a:t>DT (Data &amp; Pipeline) ✔ PYLON</a:t>
            </a:r>
          </a:p>
          <a:p>
            <a:pPr>
              <a:spcBef>
                <a:spcPts val="200"/>
              </a:spcBef>
              <a:defRPr sz="1200" b="1">
                <a:solidFill>
                  <a:srgbClr val="555555"/>
                </a:solidFill>
              </a:defRPr>
            </a:pPr>
            <a:r>
              <a:t>데이터 수집 체계 구축</a:t>
            </a:r>
          </a:p>
          <a:p>
            <a:pPr lvl="1">
              <a:defRPr sz="1000">
                <a:solidFill>
                  <a:srgbClr val="666666"/>
                </a:solidFill>
              </a:defRPr>
            </a:pPr>
            <a:r>
              <a:t>• (Acc) 5G 전 장비, LTE(E/N) 수집</a:t>
            </a:r>
          </a:p>
          <a:p>
            <a:pPr lvl="1">
              <a:defRPr sz="1000">
                <a:solidFill>
                  <a:srgbClr val="666666"/>
                </a:solidFill>
              </a:defRPr>
            </a:pPr>
            <a:r>
              <a:t>• (Core) HOLA/SIMS 활용 수집체계 검토</a:t>
            </a:r>
          </a:p>
          <a:p>
            <a:pPr lvl="1">
              <a:defRPr sz="1000">
                <a:solidFill>
                  <a:srgbClr val="666666"/>
                </a:solidFill>
              </a:defRPr>
            </a:pPr>
            <a:r>
              <a:t>• 신규 장비 RFP 데이터 요구사항 반영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77777"/>
                </a:solidFill>
              </a:defRPr>
            </a:pPr>
            <a:r>
              <a:t>검증 (Validation)</a:t>
            </a:r>
          </a:p>
          <a:p>
            <a:pPr>
              <a:spcBef>
                <a:spcPts val="200"/>
              </a:spcBef>
              <a:defRPr sz="1200" b="1">
                <a:solidFill>
                  <a:srgbClr val="555555"/>
                </a:solidFill>
              </a:defRPr>
            </a:pPr>
            <a:r>
              <a:t>절감 효과성 검증/실증</a:t>
            </a:r>
          </a:p>
          <a:p>
            <a:pPr lvl="1">
              <a:defRPr sz="1000">
                <a:solidFill>
                  <a:srgbClr val="666666"/>
                </a:solidFill>
              </a:defRPr>
            </a:pPr>
            <a:r>
              <a:t>• 솔루션 적용 전/후 효과 비교 분석</a:t>
            </a:r>
          </a:p>
          <a:p>
            <a:pPr lvl="1">
              <a:defRPr sz="1000">
                <a:solidFill>
                  <a:srgbClr val="666666"/>
                </a:solidFill>
              </a:defRPr>
            </a:pPr>
            <a:r>
              <a:t>• 기대효과 미달 시 개선 Drive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solidFill>
            <a:srgbClr val="7D3C98"/>
          </a:solidFill>
          <a:ln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947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D3C98"/>
                </a:solidFill>
              </a:defRPr>
            </a:pPr>
            <a:r>
              <a:t>모니터링 (Monitoring) ✔ PYLON</a:t>
            </a:r>
          </a:p>
          <a:p>
            <a:pPr>
              <a:spcBef>
                <a:spcPts val="200"/>
              </a:spcBef>
              <a:defRPr sz="1200" b="1">
                <a:solidFill>
                  <a:srgbClr val="555555"/>
                </a:solidFill>
              </a:defRPr>
            </a:pPr>
            <a:r>
              <a:t>현황 분석 및 비교</a:t>
            </a:r>
          </a:p>
          <a:p>
            <a:pPr lvl="1">
              <a:defRPr sz="1000">
                <a:solidFill>
                  <a:srgbClr val="666666"/>
                </a:solidFill>
              </a:defRPr>
            </a:pPr>
            <a:r>
              <a:t>• (내부) 본부/벤더/권역별 비교</a:t>
            </a:r>
          </a:p>
          <a:p>
            <a:pPr lvl="1">
              <a:defRPr sz="1000">
                <a:solidFill>
                  <a:srgbClr val="666666"/>
                </a:solidFill>
              </a:defRPr>
            </a:pPr>
            <a:r>
              <a:t>• (외부) Peer 비교 (DT, NTT, T-Mobile)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9834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77777"/>
                </a:solidFill>
              </a:defRPr>
            </a:pPr>
            <a:r>
              <a:t>성과 &amp; Risk 관리</a:t>
            </a:r>
          </a:p>
          <a:p>
            <a:pPr>
              <a:spcBef>
                <a:spcPts val="200"/>
              </a:spcBef>
              <a:defRPr sz="1200" b="1">
                <a:solidFill>
                  <a:srgbClr val="555555"/>
                </a:solidFill>
              </a:defRPr>
            </a:pPr>
            <a:r>
              <a:t>KPI 및 ESG 대응</a:t>
            </a:r>
          </a:p>
          <a:p>
            <a:pPr lvl="1">
              <a:defRPr sz="1000">
                <a:solidFill>
                  <a:srgbClr val="666666"/>
                </a:solidFill>
              </a:defRPr>
            </a:pPr>
            <a:r>
              <a:t>• 예산/실적 및 탄소 배출량 관리</a:t>
            </a:r>
          </a:p>
          <a:p>
            <a:pPr lvl="1">
              <a:defRPr sz="1000">
                <a:solidFill>
                  <a:srgbClr val="666666"/>
                </a:solidFill>
              </a:defRPr>
            </a:pPr>
            <a:r>
              <a:t>• 절감 과제별 정량 성과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D3C98"/>
                </a:solidFill>
              </a:defRPr>
            </a:pPr>
            <a:r>
              <a:t>⚡ NW ESG추진팀 역할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• Data Pipeline/대시보드 기획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• 과제 단위 성과 측정/관리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• 일하는 방식 개선 (AI 에너지 Agent)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7AE60"/>
                </a:solidFill>
              </a:defRPr>
            </a:pPr>
            <a:r>
              <a:t>#2. 에너지 소모 절감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F8C8D"/>
                </a:solidFill>
              </a:defRPr>
            </a:pPr>
            <a:r>
              <a:t>kWh 절대량 감소 핵심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Access (망 진화)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57400"/>
            <a:ext cx="859536" cy="32004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77777"/>
                </a:solidFill>
              </a:defRPr>
            </a:pPr>
            <a:r>
              <a:t>LTE Mod.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53895" y="2057400"/>
            <a:ext cx="713232" cy="32004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77777"/>
                </a:solidFill>
              </a:defRPr>
            </a:pPr>
            <a:r>
              <a:t>3G F/O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04288" y="2057400"/>
            <a:ext cx="640080" cy="32004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77777"/>
                </a:solidFill>
              </a:defRPr>
            </a:pPr>
            <a:r>
              <a:t>SA 전환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81528" y="2057400"/>
            <a:ext cx="932688" cy="32004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77777"/>
                </a:solidFill>
              </a:defRPr>
            </a:pPr>
            <a:r>
              <a:t>E-Project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51376" y="2057400"/>
            <a:ext cx="1152144" cy="32004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77777"/>
                </a:solidFill>
              </a:defRPr>
            </a:pPr>
            <a:r>
              <a:t>Power Saving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설비 (핵심 인프라)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03320"/>
            <a:ext cx="786384" cy="32004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7AE60"/>
                </a:solidFill>
              </a:defRPr>
            </a:pPr>
            <a:r>
              <a:t>필름형 태양광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80744" y="3703320"/>
            <a:ext cx="859536" cy="32004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7AE60"/>
                </a:solidFill>
              </a:defRPr>
            </a:pPr>
            <a:r>
              <a:t>외기 냉방 도입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39" y="3703320"/>
            <a:ext cx="1005840" cy="32004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77777"/>
                </a:solidFill>
              </a:defRPr>
            </a:pPr>
            <a:r>
              <a:t>노후 냉방기 대개체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3703320"/>
            <a:ext cx="859536" cy="32004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77777"/>
                </a:solidFill>
              </a:defRPr>
            </a:pPr>
            <a:r>
              <a:t>국사 온도 상향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37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Core / 전송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49240"/>
            <a:ext cx="1298448" cy="32004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77777"/>
                </a:solidFill>
              </a:defRPr>
            </a:pPr>
            <a:r>
              <a:t>F/H Zero Power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92807" y="5349240"/>
            <a:ext cx="713232" cy="32004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77777"/>
                </a:solidFill>
              </a:defRPr>
            </a:pPr>
            <a:r>
              <a:t>서버 P/S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5349240"/>
            <a:ext cx="932688" cy="32004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77777"/>
                </a:solidFill>
              </a:defRPr>
            </a:pPr>
            <a:r>
              <a:t>유휴 시설 재배치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7AE60"/>
                </a:solidFill>
              </a:defRPr>
            </a:pPr>
            <a:r>
              <a:t>⚡ NW ESG추진팀 역할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• NW망진화/Slim화 에너지 PM (TCO평가/실증 주관)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• 신규 솔루션 발굴/검증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#3. 비용 최적화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F8C8D"/>
                </a:solidFill>
              </a:defRPr>
            </a:pPr>
            <a:r>
              <a:t>단가 인하 &amp; 누수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77777"/>
                </a:solidFill>
              </a:defRPr>
            </a:pPr>
            <a:r>
              <a:t>건물 / 한전 정액 계약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4114800" cy="411480"/>
          </a:xfrm>
          <a:prstGeom prst="roundRect">
            <a:avLst/>
          </a:prstGeom>
          <a:solidFill>
            <a:srgbClr val="EEF6F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980B9"/>
                </a:solidFill>
              </a:defRPr>
            </a:pPr>
            <a:r>
              <a:t>✔ 시험성적서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88888"/>
                </a:solidFill>
              </a:defRPr>
            </a:pPr>
            <a:r>
              <a:t>※ 광중계기 20종 우선 검토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82296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Bef>
                <a:spcPts val="500"/>
              </a:spcBef>
              <a:defRPr sz="1300" b="1">
                <a:solidFill>
                  <a:srgbClr val="333333"/>
                </a:solidFill>
              </a:defRPr>
            </a:pPr>
            <a:r>
              <a:t>• LTE 사용률: 35% → 10%</a:t>
            </a:r>
          </a:p>
          <a:p>
            <a:pPr>
              <a:spcBef>
                <a:spcPts val="500"/>
              </a:spcBef>
              <a:defRPr sz="1300" b="1">
                <a:solidFill>
                  <a:srgbClr val="333333"/>
                </a:solidFill>
              </a:defRPr>
            </a:pPr>
            <a:r>
              <a:t>• Power Saving: All Time On</a:t>
            </a:r>
          </a:p>
          <a:p>
            <a:pPr>
              <a:spcBef>
                <a:spcPts val="500"/>
              </a:spcBef>
              <a:defRPr sz="1300" b="1">
                <a:solidFill>
                  <a:srgbClr val="333333"/>
                </a:solidFill>
              </a:defRPr>
            </a:pPr>
            <a:r>
              <a:t>• 기타: 고효율 Amp 적용, 3G Off 반영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43400"/>
            <a:ext cx="2286000" cy="365760"/>
          </a:xfrm>
          <a:prstGeom prst="roundRect">
            <a:avLst/>
          </a:prstGeom>
          <a:solidFill>
            <a:srgbClr val="F8F9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77777"/>
                </a:solidFill>
              </a:defRPr>
            </a:pPr>
            <a:r>
              <a:t>모자분리 (건물)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77777"/>
                </a:solidFill>
              </a:defRPr>
            </a:pPr>
            <a:r>
              <a:t>한전 종량 계약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40680"/>
            <a:ext cx="82296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• RAPA 수수료 현실화</a:t>
            </a:r>
          </a:p>
          <a:p>
            <a:pPr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• 요금제 최적화 (주택 ↔ 일반)</a:t>
            </a:r>
          </a:p>
          <a:p>
            <a:pPr>
              <a:spcBef>
                <a:spcPts val="500"/>
              </a:spcBef>
              <a:defRPr sz="1300">
                <a:solidFill>
                  <a:srgbClr val="333333"/>
                </a:solidFill>
              </a:defRPr>
            </a:pPr>
            <a:r>
              <a:t>• 도전(Power Theft) 탐지/해소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80B9"/>
                </a:solidFill>
              </a:defRPr>
            </a:pPr>
            <a:r>
              <a:t>⚡ NW ESG추진팀 역할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• 시험성적서 Mod. (3G F/O 연계)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• 전기요금 누수 Zero화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4대 중점 추진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DC3C7"/>
                </a:solidFill>
              </a:defRPr>
            </a:pPr>
            <a:r>
              <a:t>Key Strategic Projects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🎯 4대 중점 추진 과제 &amp;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320040" cy="32004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1430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PYLON (대시보드 &amp; 에너지 에이전트)</a:t>
            </a:r>
          </a:p>
          <a:p>
            <a:pPr>
              <a:spcBef>
                <a:spcPts val="200"/>
              </a:spcBef>
              <a:defRPr sz="1000">
                <a:solidFill>
                  <a:srgbClr val="666666"/>
                </a:solidFill>
              </a:defRPr>
            </a:pPr>
            <a:r>
              <a:t>Collab: NW AT/DT, 지역 AT/DT, 지역 O/I, NW ESG</a:t>
            </a:r>
          </a:p>
          <a:p>
            <a:pPr>
              <a:spcBef>
                <a:spcPts val="200"/>
              </a:spcBef>
              <a:defRPr sz="1000" b="1">
                <a:solidFill>
                  <a:srgbClr val="E74C3C"/>
                </a:solidFill>
              </a:defRPr>
            </a:pPr>
            <a:r>
              <a:t>Effect: 데이터 기반 의사결정 체계 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시험성적서 Modernization</a:t>
            </a:r>
          </a:p>
          <a:p>
            <a:pPr>
              <a:spcBef>
                <a:spcPts val="200"/>
              </a:spcBef>
              <a:defRPr sz="1000">
                <a:solidFill>
                  <a:srgbClr val="666666"/>
                </a:solidFill>
              </a:defRPr>
            </a:pPr>
            <a:r>
              <a:t>Collab: Acc. Eng, Acc. Sol</a:t>
            </a:r>
          </a:p>
          <a:p>
            <a:pPr>
              <a:spcBef>
                <a:spcPts val="200"/>
              </a:spcBef>
              <a:defRPr sz="1000" b="1">
                <a:solidFill>
                  <a:srgbClr val="E74C3C"/>
                </a:solidFill>
              </a:defRPr>
            </a:pPr>
            <a:r>
              <a:t>Effect: 연 20~40억 절감 예상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49039"/>
            <a:ext cx="320040" cy="32004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외기 냉방 도입 (Dual)</a:t>
            </a:r>
          </a:p>
          <a:p>
            <a:pPr>
              <a:spcBef>
                <a:spcPts val="200"/>
              </a:spcBef>
              <a:defRPr sz="1000">
                <a:solidFill>
                  <a:srgbClr val="666666"/>
                </a:solidFill>
              </a:defRPr>
            </a:pPr>
            <a:r>
              <a:t>Collab: 유선/설비 Eng, 구축계획팀</a:t>
            </a:r>
          </a:p>
          <a:p>
            <a:pPr>
              <a:spcBef>
                <a:spcPts val="200"/>
              </a:spcBef>
              <a:defRPr sz="1000" b="1">
                <a:solidFill>
                  <a:srgbClr val="E74C3C"/>
                </a:solidFill>
              </a:defRPr>
            </a:pPr>
            <a:r>
              <a:t>Effect: 연 5~45억 절감 예상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029199"/>
            <a:ext cx="320040" cy="32004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83479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필름형 태양광</a:t>
            </a:r>
          </a:p>
          <a:p>
            <a:pPr>
              <a:spcBef>
                <a:spcPts val="200"/>
              </a:spcBef>
              <a:defRPr sz="1000">
                <a:solidFill>
                  <a:srgbClr val="666666"/>
                </a:solidFill>
              </a:defRPr>
            </a:pPr>
            <a:r>
              <a:t>Collab: 구축계획팀, Net. 협력팀</a:t>
            </a:r>
          </a:p>
          <a:p>
            <a:pPr>
              <a:spcBef>
                <a:spcPts val="200"/>
              </a:spcBef>
              <a:defRPr sz="1000" b="1">
                <a:solidFill>
                  <a:srgbClr val="E74C3C"/>
                </a:solidFill>
              </a:defRPr>
            </a:pPr>
            <a:r>
              <a:t>Effect: 최대 100억 이상 절감 잠재력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📅 Timeline: 2026 ~ 2028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• '26.1Q: Pilot 시작 (PYLON, 태양광 소재)  • '26.6: Phase I 완료  • '27~'28: 본격 확산 및 고도화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거버넌스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DC3C7"/>
                </a:solidFill>
              </a:defRPr>
            </a:pPr>
            <a:r>
              <a:t>Governance 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9144000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⚙ 전기료 WG (Working Group)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502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CF0F1"/>
                </a:solidFill>
              </a:defRPr>
            </a:pPr>
            <a:r>
              <a:t>⚡ 팀장/실무급 상시 Comm.   💻 실행 First (월 1회 실적 점검)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7D3C98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005840"/>
            <a:ext cx="2286000" cy="365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D3C98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D3C98"/>
                </a:solidFill>
              </a:defRPr>
            </a:pPr>
            <a:r>
              <a:t>전기료 WG (Working Group)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05840"/>
            <a:ext cx="2103120" cy="365760"/>
          </a:xfrm>
          <a:prstGeom prst="round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Link: 방향성 #1 (가시성/성과관리)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554480"/>
            <a:ext cx="3474720" cy="1554480"/>
          </a:xfrm>
          <a:prstGeom prst="rect">
            <a:avLst/>
          </a:prstGeom>
          <a:solidFill>
            <a:srgbClr val="F9F9F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3474720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시스템 모듈 (기획/제작)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[과제 1] PYLON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대시보드 / 에너지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97480"/>
            <a:ext cx="658368" cy="2286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55555"/>
                </a:solidFill>
              </a:defRPr>
            </a:pPr>
            <a:r>
              <a:t>NW AT/DT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2697480"/>
            <a:ext cx="658368" cy="2286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55555"/>
                </a:solidFill>
              </a:defRPr>
            </a:pPr>
            <a:r>
              <a:t>지역 AT/DT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96896" y="2697480"/>
            <a:ext cx="539496" cy="2286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55555"/>
                </a:solidFill>
              </a:defRPr>
            </a:pPr>
            <a:r>
              <a:t>지역 O/I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697480"/>
            <a:ext cx="539496" cy="2286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55555"/>
                </a:solidFill>
              </a:defRPr>
            </a:pPr>
            <a:r>
              <a:t>NW ESG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8768" y="2697480"/>
            <a:ext cx="539496" cy="2286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55555"/>
                </a:solidFill>
              </a:defRPr>
            </a:pPr>
            <a:r>
              <a:t>NW O/I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554480"/>
            <a:ext cx="3474720" cy="1554480"/>
          </a:xfrm>
          <a:prstGeom prst="rect">
            <a:avLst/>
          </a:prstGeom>
          <a:solidFill>
            <a:srgbClr val="F9F9F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1554480"/>
            <a:ext cx="347472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실행 모듈 (추진/실적)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0116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[과제 2, 3, 4] 4대 중점 과제</a:t>
            </a:r>
          </a:p>
          <a:p>
            <a:pPr lvl="1">
              <a:defRPr sz="1000">
                <a:solidFill>
                  <a:srgbClr val="555555"/>
                </a:solidFill>
              </a:defRPr>
            </a:pPr>
            <a:r>
              <a:t>• 시험성적서 / 외기 냉방 / 태양광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2834640"/>
            <a:ext cx="539496" cy="2286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55555"/>
                </a:solidFill>
              </a:defRPr>
            </a:pPr>
            <a:r>
              <a:t>NW ESG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68696" y="2834640"/>
            <a:ext cx="539496" cy="2286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55555"/>
                </a:solidFill>
              </a:defRPr>
            </a:pPr>
            <a:r>
              <a:t>NW O/I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834640"/>
            <a:ext cx="539496" cy="22860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55555"/>
                </a:solidFill>
              </a:defRPr>
            </a:pPr>
            <a:r>
              <a:t>지역 O/I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291839"/>
            <a:ext cx="7315200" cy="731520"/>
          </a:xfrm>
          <a:prstGeom prst="rect">
            <a:avLst/>
          </a:prstGeom>
          <a:solidFill>
            <a:srgbClr val="FDFD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71600" y="3127247"/>
            <a:ext cx="1097280" cy="329184"/>
          </a:xfrm>
          <a:prstGeom prst="roundRect">
            <a:avLst/>
          </a:prstGeom>
          <a:solidFill>
            <a:srgbClr val="FDFDF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F8C8D"/>
                </a:solidFill>
              </a:defRPr>
            </a:pPr>
            <a:r>
              <a:t>일반 과제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127247"/>
            <a:ext cx="2103120" cy="329184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Link: 방향성 #2, #3 (절감/비용)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52043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55555"/>
                </a:solidFill>
              </a:defRPr>
            </a:pPr>
            <a:r>
              <a:t>Access 망 진화    |    설비 고효율화    |    한전 계약 최적화    |    RAPA / 도전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103120"/>
            <a:ext cx="457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>
                <a:solidFill>
                  <a:srgbClr val="BDC3C7"/>
                </a:solidFill>
              </a:defRPr>
            </a:pPr>
            <a:r>
              <a:t>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029200"/>
            <a:ext cx="13716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Output For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O/I</a:t>
            </a:r>
            <a:br/>
            <a:r>
              <a:t>회의체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716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3-Year</a:t>
            </a:r>
          </a:p>
          <a:p>
            <a: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t>'26년 (Inflection Point)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9260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ECF0F1"/>
                </a:solidFill>
              </a:defRPr>
            </a:pPr>
            <a:r>
              <a:t>전력 사용량/비용 증분 Zero화</a:t>
            </a:r>
          </a:p>
          <a:p>
            <a:r>
              <a:t>관리 대시보드 구현 및 안정화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43200"/>
            <a:ext cx="3657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>
                <a:solidFill>
                  <a:srgbClr val="BDC3C7"/>
                </a:solidFill>
              </a:defRPr>
            </a:pPr>
            <a:r>
              <a:t>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t>'27년 (Turn Down)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9260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ECF0F1"/>
                </a:solidFill>
              </a:defRPr>
            </a:pPr>
            <a:r>
              <a:t>Down Trend 전환 시작</a:t>
            </a:r>
          </a:p>
          <a:p>
            <a:r>
              <a:t>그룹 에너지 효율화 '1등급' 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743200"/>
            <a:ext cx="3657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>
                <a:solidFill>
                  <a:srgbClr val="BDC3C7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t>'28년~ (Acceleration)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9260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ECF0F1"/>
                </a:solidFill>
              </a:defRPr>
            </a:pPr>
            <a:r>
              <a:t>전력 사용량 20% 이상 감소</a:t>
            </a:r>
          </a:p>
          <a:p>
            <a:r>
              <a:t>3G 완전 철거 연계 가속화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